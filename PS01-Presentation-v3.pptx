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8534095" y="-1828800"/>
            <a:ext cx="5486400" cy="5486400"/>
          </a:xfrm>
          <a:prstGeom prst="ellipse">
            <a:avLst/>
          </a:prstGeom>
          <a:solidFill>
            <a:srgbClr val="19376D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2895" y="4114800"/>
            <a:ext cx="3657600" cy="3657600"/>
          </a:xfrm>
          <a:prstGeom prst="ellipse">
            <a:avLst/>
          </a:prstGeom>
          <a:solidFill>
            <a:srgbClr val="0891B2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7E8F9"/>
                </a:solidFill>
              </a:rPr>
              <a:t>PS-01  ·  Data Governance &amp; Privacy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Sensitivity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Engine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5D7E8"/>
                </a:solidFill>
              </a:rPr>
              <a:t>Classify · Explain · Govern  —  for unstructured payments data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5212080"/>
            <a:ext cx="3657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Team #01  —  Shikha · Aditi J · Akshay Choudhari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D7E8"/>
                </a:solidFill>
              </a:rPr>
              <a:t>Customer: Data Governance / Privacy Engineering   |   Priority: HIGH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Thinking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2801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3383280"/>
            <a:ext cx="9265615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22960" y="2743200"/>
            <a:ext cx="1280160" cy="1280160"/>
          </a:xfrm>
          <a:prstGeom prst="ellipse">
            <a:avLst/>
          </a:prstGeom>
          <a:solidFill>
            <a:srgbClr val="0891B2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EMPATHIZE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76083" y="2743200"/>
            <a:ext cx="1280160" cy="1280160"/>
          </a:xfrm>
          <a:prstGeom prst="ellipse">
            <a:avLst/>
          </a:prstGeom>
          <a:solidFill>
            <a:srgbClr val="19376D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76083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01763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DEFINE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9206" y="2743200"/>
            <a:ext cx="1280160" cy="1280160"/>
          </a:xfrm>
          <a:prstGeom prst="ellipse">
            <a:avLst/>
          </a:prstGeom>
          <a:solidFill>
            <a:srgbClr val="576CBC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9206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254886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IDEATE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82329" y="2743200"/>
            <a:ext cx="1280160" cy="1280160"/>
          </a:xfrm>
          <a:prstGeom prst="ellipse">
            <a:avLst/>
          </a:prstGeom>
          <a:solidFill>
            <a:srgbClr val="0891B2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82329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08009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PROTOTYPE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35452" y="2743200"/>
            <a:ext cx="1280160" cy="1280160"/>
          </a:xfrm>
          <a:prstGeom prst="ellipse">
            <a:avLst/>
          </a:prstGeom>
          <a:solidFill>
            <a:srgbClr val="B45309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35452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961132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TEST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88575" y="2743200"/>
            <a:ext cx="1280160" cy="1280160"/>
          </a:xfrm>
          <a:prstGeom prst="ellipse">
            <a:avLst/>
          </a:prstGeom>
          <a:solidFill>
            <a:srgbClr val="047857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88575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814255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</a:rPr>
              <a:t>IMPLEMENT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5029200"/>
            <a:ext cx="3362858" cy="54864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02920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</a:rPr>
              <a:t>UNDERSTAND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414418" y="5029200"/>
            <a:ext cx="3362858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414418" y="502920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</a:rPr>
              <a:t>EXPLORE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51597" y="5029200"/>
            <a:ext cx="3362858" cy="548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8051597" y="5029200"/>
            <a:ext cx="336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FFFF"/>
                </a:solidFill>
              </a:rPr>
              <a:t>MATERIALIZE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A user-centered process to define the problem, prototype DataShield, and validate against PS-01 evaluation criteria.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2 / 11   ·   PS-01   ·   Team #01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  —  Persona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2801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3560978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73152" cy="155448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3286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376D"/>
                </a:solidFill>
              </a:rPr>
              <a:t>WHO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Chintan Oza — Senior VP, Software Engineering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At Mastercard: drives innovation, product development,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and aligns technology with business.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2498" y="1234440"/>
            <a:ext cx="3560978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2498" y="1234440"/>
            <a:ext cx="73152" cy="155448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10" name="Text 8"/>
          <p:cNvSpPr/>
          <p:nvPr/>
        </p:nvSpPr>
        <p:spPr>
          <a:xfrm>
            <a:off x="4475378" y="1325880"/>
            <a:ext cx="3286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9376D"/>
                </a:solidFill>
              </a:rPr>
              <a:t>GOALS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75378" y="169164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Introduce innovative engineering approaches at Mastercard.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Drive business value through strong engineering outcomes.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36357" y="1234440"/>
            <a:ext cx="3560978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36357" y="1234440"/>
            <a:ext cx="73152" cy="155448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14" name="Text 12"/>
          <p:cNvSpPr/>
          <p:nvPr/>
        </p:nvSpPr>
        <p:spPr>
          <a:xfrm>
            <a:off x="8219237" y="1325880"/>
            <a:ext cx="3286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E185D"/>
                </a:solidFill>
              </a:rPr>
              <a:t>PAIN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19237" y="169164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Security or system-failure risks.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Fraud &amp; cyber-risk exposure rising with Gen AI.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560978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26080"/>
            <a:ext cx="73152" cy="15544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17520"/>
            <a:ext cx="3286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47857"/>
                </a:solidFill>
              </a:rPr>
              <a:t>GAIN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Build high-impact, industry-leading solutions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to proactively detect and mitigate fraud risks.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2498" y="2926080"/>
            <a:ext cx="3560978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2498" y="2926080"/>
            <a:ext cx="73152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475378" y="3017520"/>
            <a:ext cx="3286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</a:rPr>
              <a:t>SEE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75378" y="338328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Rapid growth in digital payments.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Growing adoption of Generative AI in the industry.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Business teams seeking faster insights.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36357" y="2926080"/>
            <a:ext cx="3560978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36357" y="2926080"/>
            <a:ext cx="73152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8219237" y="3017520"/>
            <a:ext cx="3286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</a:rPr>
              <a:t>HEAR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9237" y="338328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Expectation for faster delivery cycles at Mastercard.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AI-driven systems are transforming financial services.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3560978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617720"/>
            <a:ext cx="73152" cy="1554480"/>
          </a:xfrm>
          <a:prstGeom prst="rect">
            <a:avLst/>
          </a:prstGeom>
          <a:solidFill>
            <a:srgbClr val="576CB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709160"/>
            <a:ext cx="3286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76CBC"/>
                </a:solidFill>
              </a:rPr>
              <a:t>SAY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07492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"Is this aligned with compliance standards?"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"Does this support our fraud-prevention objectives?"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2498" y="4617720"/>
            <a:ext cx="3560978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92498" y="4617720"/>
            <a:ext cx="73152" cy="1554480"/>
          </a:xfrm>
          <a:prstGeom prst="rect">
            <a:avLst/>
          </a:prstGeom>
          <a:solidFill>
            <a:srgbClr val="576CBC"/>
          </a:solidFill>
          <a:ln/>
        </p:spPr>
      </p:sp>
      <p:sp>
        <p:nvSpPr>
          <p:cNvPr id="34" name="Text 32"/>
          <p:cNvSpPr/>
          <p:nvPr/>
        </p:nvSpPr>
        <p:spPr>
          <a:xfrm>
            <a:off x="4475378" y="4709160"/>
            <a:ext cx="3286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76CBC"/>
                </a:solidFill>
              </a:rPr>
              <a:t>DO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75378" y="507492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Prioritises risk-aware decision-making.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Adopts emerging technologies.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36357" y="4617720"/>
            <a:ext cx="3560978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36357" y="4617720"/>
            <a:ext cx="73152" cy="1554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8" name="Text 36"/>
          <p:cNvSpPr/>
          <p:nvPr/>
        </p:nvSpPr>
        <p:spPr>
          <a:xfrm>
            <a:off x="8219237" y="4709160"/>
            <a:ext cx="3286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45309"/>
                </a:solidFill>
              </a:rPr>
              <a:t>THINK &amp; FEEL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19237" y="5074920"/>
            <a:ext cx="32409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Requires fast delivery without compromising accuracy.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Feels pressure from leadership and compliance requirements.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3 / 11   ·   PS-01   ·   Team #01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—  Define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2801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9376D"/>
                </a:solidFill>
              </a:rPr>
              <a:t>CURRENT STATE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3855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600" kern="0" dirty="0">
                <a:solidFill>
                  <a:srgbClr val="047857"/>
                </a:solidFill>
              </a:rPr>
              <a:t>FUTURE STATE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0292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45920"/>
            <a:ext cx="73152" cy="128016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376D"/>
                </a:solidFill>
              </a:rPr>
              <a:t>Stakeholders &amp; Relevance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Compliance teams in highly regulated sectors (Fintech / Payments). Manual classification fails to scale with regulatory and data growth.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0292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108960"/>
            <a:ext cx="73152" cy="128016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376D"/>
                </a:solidFill>
              </a:rPr>
              <a:t>Triggers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611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Manual classification introduces errors and fails to scale with real-time data, resulting in compliance gaps.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50292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572000"/>
            <a:ext cx="73152" cy="128016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376D"/>
                </a:solidFill>
              </a:rPr>
              <a:t>Expectation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Automated identification and protection of sensitive data.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13855" y="1645920"/>
            <a:ext cx="50292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13855" y="1645920"/>
            <a:ext cx="73152" cy="12801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0" name="Text 18"/>
          <p:cNvSpPr/>
          <p:nvPr/>
        </p:nvSpPr>
        <p:spPr>
          <a:xfrm>
            <a:off x="6842455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</a:rPr>
              <a:t>System Input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42455" y="2148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Diverse raw documents (customer tickets, HR records, financial reports, contracts, emails) and their associated metadata.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13855" y="3108960"/>
            <a:ext cx="50292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13855" y="3108960"/>
            <a:ext cx="73152" cy="12801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4" name="Text 22"/>
          <p:cNvSpPr/>
          <p:nvPr/>
        </p:nvSpPr>
        <p:spPr>
          <a:xfrm>
            <a:off x="6842455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</a:rPr>
              <a:t>Output Application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42455" y="3611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Enables automated, compliant data handling by driving security controls and audit reporting.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13855" y="4572000"/>
            <a:ext cx="50292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13855" y="4572000"/>
            <a:ext cx="73152" cy="12801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8" name="Text 26"/>
          <p:cNvSpPr/>
          <p:nvPr/>
        </p:nvSpPr>
        <p:spPr>
          <a:xfrm>
            <a:off x="6842455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</a:rPr>
              <a:t>Output Composition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42455" y="5074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Structured output including sensitivity classification, explainability signals, and policy action flag.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7208" y="3017520"/>
            <a:ext cx="1097280" cy="1097280"/>
          </a:xfrm>
          <a:prstGeom prst="ellipse">
            <a:avLst/>
          </a:prstGeom>
          <a:solidFill>
            <a:srgbClr val="0B2447"/>
          </a:solidFill>
          <a:ln w="381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47208" y="3017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VS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2895448" y="6080760"/>
            <a:ext cx="64008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2895448" y="6080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GAP  —  Lack of automation for data-sensitivity classification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4 / 11   ·   PS-01   ·   Team #01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 —  MECE Framework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2801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Six mutually exclusive buckets covering the full pipeline plus cross-cutting non-functional concerns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75569"/>
                </a:solidFill>
              </a:rPr>
              <a:t>PIPELINE  STAGES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75569"/>
                </a:solidFill>
              </a:rPr>
              <a:t>CROSS-CUTTING  (NON-FUNCTIONAL)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670734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91440" cy="2377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574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891B2"/>
                </a:solidFill>
              </a:rPr>
              <a:t>A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23049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Ingestion &amp;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Pre-processing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2304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in-bound stage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6534" y="1920240"/>
            <a:ext cx="2670734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6534" y="1920240"/>
            <a:ext cx="91440" cy="23774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3585134" y="20574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E40AF"/>
                </a:solidFill>
              </a:rPr>
              <a:t>B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585134" y="3017520"/>
            <a:ext cx="23049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Classification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85134" y="3794760"/>
            <a:ext cx="2304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decision stage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4428" y="1920240"/>
            <a:ext cx="2670734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4428" y="1920240"/>
            <a:ext cx="91440" cy="2377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393028" y="20574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C3AED"/>
                </a:solidFill>
              </a:rPr>
              <a:t>C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6393028" y="3017520"/>
            <a:ext cx="23049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Policy &amp; Action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3028" y="3794760"/>
            <a:ext cx="2304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post-decision stage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72321" y="1920240"/>
            <a:ext cx="2670734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72321" y="1920240"/>
            <a:ext cx="91440" cy="237744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24" name="Text 22"/>
          <p:cNvSpPr/>
          <p:nvPr/>
        </p:nvSpPr>
        <p:spPr>
          <a:xfrm>
            <a:off x="9200921" y="20574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BE185D"/>
                </a:solidFill>
              </a:rPr>
              <a:t>D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9200921" y="3017520"/>
            <a:ext cx="23049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Explainability &amp; Audit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00921" y="3794760"/>
            <a:ext cx="23049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transparency stage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545576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846320"/>
            <a:ext cx="91440" cy="15087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9834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45309"/>
                </a:solidFill>
              </a:rPr>
              <a:t>E</a:t>
            </a:r>
            <a:endParaRPr lang="en-US" sz="4400" dirty="0"/>
          </a:p>
        </p:txBody>
      </p:sp>
      <p:sp>
        <p:nvSpPr>
          <p:cNvPr id="30" name="Text 28"/>
          <p:cNvSpPr/>
          <p:nvPr/>
        </p:nvSpPr>
        <p:spPr>
          <a:xfrm>
            <a:off x="1600200" y="5029200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Operations &amp; Reliability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00200" y="548640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latency · throughput · drift · retraining · MLflow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87288" y="4846320"/>
            <a:ext cx="5455768" cy="1508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87288" y="4846320"/>
            <a:ext cx="91440" cy="150876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4" name="Text 32"/>
          <p:cNvSpPr/>
          <p:nvPr/>
        </p:nvSpPr>
        <p:spPr>
          <a:xfrm>
            <a:off x="6415888" y="498348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47857"/>
                </a:solidFill>
              </a:rPr>
              <a:t>F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7238848" y="5029200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</a:rPr>
              <a:t>Deployment &amp; Security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38848" y="548640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air-gapped (C3) · API surface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5 / 11   ·   PS-01   ·   Team #01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A.  Ingestion &amp; Pre-processing 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0891B2"/>
                </a:solidFill>
              </a:rPr>
              <a:t>IN-BOUND STAGE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07128" y="1325880"/>
            <a:ext cx="237744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2848" y="13441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Ingestion &amp; Pre-processing Gap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63269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8989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Source &amp; Format Coverage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7709" y="2057400"/>
            <a:ext cx="369813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7709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315413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1408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7128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Language Routing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848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013552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559546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5266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Metadata Capture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2057400"/>
            <a:ext cx="369813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93986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711690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all required document formats (PDF, DOCX, CSV, JSON, HTML) parsed reliably?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97709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00607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0607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418311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0" name="Shape 28"/>
          <p:cNvSpPr/>
          <p:nvPr/>
        </p:nvSpPr>
        <p:spPr>
          <a:xfrm>
            <a:off x="2480005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5725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Does the REST batch ingest endpoint handle production-scale volume?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97709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7709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4812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3212516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6" name="Shape 34"/>
          <p:cNvSpPr/>
          <p:nvPr/>
        </p:nvSpPr>
        <p:spPr>
          <a:xfrm>
            <a:off x="4383938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9658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per-document language reliably detected (EN / HI)?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95848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98745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98745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116449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8144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3864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documents dispatched to the correct language-specific model set?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95848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95848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92950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910654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8" name="Shape 46"/>
          <p:cNvSpPr/>
          <p:nvPr/>
        </p:nvSpPr>
        <p:spPr>
          <a:xfrm>
            <a:off x="8082077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27797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source system, author, department, file-type and date extracted on every document?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793986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96883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96883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814587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4" name="Shape 52"/>
          <p:cNvSpPr/>
          <p:nvPr/>
        </p:nvSpPr>
        <p:spPr>
          <a:xfrm>
            <a:off x="9876282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22002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the extracted metadata used downstream as classification features?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793986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93986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691089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0608793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6 / 11   ·   PS-01   ·   Team #01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B.  Classification 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1E40AF"/>
                </a:solidFill>
              </a:rPr>
              <a:t>DECISION STAGE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07128" y="1325880"/>
            <a:ext cx="237744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2848" y="13441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Classification Gap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63269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8989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Feature &amp; Model Foundation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7709" y="2057400"/>
            <a:ext cx="369813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7709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315413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1408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7128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Ensemble &amp; Calibration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848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013552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559546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5266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Multilingual Coverage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2057400"/>
            <a:ext cx="369813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93986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711690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TF-IDF, n-grams, embeddings and metadata one-hots produced by a single shared layer?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97709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00607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0607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418311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0" name="Shape 28"/>
          <p:cNvSpPr/>
          <p:nvPr/>
        </p:nvSpPr>
        <p:spPr>
          <a:xfrm>
            <a:off x="2480005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5725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Does the model portfolio cover LR baseline, XGBoost and an optional transformer?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97709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7709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4812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3212516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6" name="Shape 34"/>
          <p:cNvSpPr/>
          <p:nvPr/>
        </p:nvSpPr>
        <p:spPr>
          <a:xfrm>
            <a:off x="4383938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9658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predictions combined via soft voting plus a stacking meta-learner?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95848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98745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98745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116449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8144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3864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class thresholds calibrated from data (precision-recall sweep), not hand-picked?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95848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95848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92950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910654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8" name="Shape 46"/>
          <p:cNvSpPr/>
          <p:nvPr/>
        </p:nvSpPr>
        <p:spPr>
          <a:xfrm>
            <a:off x="8082077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27797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there a separately trained model set for each supported language?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793986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96883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96883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814587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4" name="Shape 52"/>
          <p:cNvSpPr/>
          <p:nvPr/>
        </p:nvSpPr>
        <p:spPr>
          <a:xfrm>
            <a:off x="9876282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22002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class imbalance handled per language (oversampling / synthetic samples)?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793986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93986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691089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0608793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7 / 11   ·   PS-01   ·   Team #01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C.  Policy &amp; Action 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7C3AED"/>
                </a:solidFill>
              </a:rPr>
              <a:t>POST-DECISION STAGE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07128" y="1325880"/>
            <a:ext cx="237744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2848" y="13441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Policy &amp; Action Gap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63269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8989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Rule Coverage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7709" y="2057400"/>
            <a:ext cx="369813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7709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315413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1408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7128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Conflict Resolution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848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013552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559546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5266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Action &amp; Override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2057400"/>
            <a:ext cx="369813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93986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711690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all required PII patterns (SSN, PAN, IBAN, Aadhaar, email, phone, DOB, passport) detected?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97709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00607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0607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418311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0" name="Shape 28"/>
          <p:cNvSpPr/>
          <p:nvPr/>
        </p:nvSpPr>
        <p:spPr>
          <a:xfrm>
            <a:off x="2480005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5725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confidential keyword rules covered in both English and Hindi?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97709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7709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4812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3212516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6" name="Shape 34"/>
          <p:cNvSpPr/>
          <p:nvPr/>
        </p:nvSpPr>
        <p:spPr>
          <a:xfrm>
            <a:off x="4383938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9658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rule priorities explicitly defined when multiple rules fire?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95848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98745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98745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116449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8144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3864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the most-restrictive label always chosen on a tie?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95848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95848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92950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910654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8" name="Shape 46"/>
          <p:cNvSpPr/>
          <p:nvPr/>
        </p:nvSpPr>
        <p:spPr>
          <a:xfrm>
            <a:off x="8082077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27797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each label mapped to a downstream action (Allow / Encrypt / Restrict / Quarantine)?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793986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96883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96883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814587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4" name="Shape 52"/>
          <p:cNvSpPr/>
          <p:nvPr/>
        </p:nvSpPr>
        <p:spPr>
          <a:xfrm>
            <a:off x="9876282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22002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Can a human reviewer override a classification through a HITL queue?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793986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93986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691089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0608793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8 / 11   ·   PS-01   ·   Team #01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D.  Explainability &amp; Audit 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BE185D"/>
                </a:solidFill>
              </a:rPr>
              <a:t>TRANSPARENCY STAGE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07128" y="1325880"/>
            <a:ext cx="237744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2848" y="13441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Explainability &amp; Audit Gap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63269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8989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Per-Prediction Evidence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7709" y="2057400"/>
            <a:ext cx="369813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7709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315413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1408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7128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Audit Trail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848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013552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559546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5266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Compliance Controls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2057400"/>
            <a:ext cx="369813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93986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711690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SHAP / LIME / IG tokens generated for every prediction?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97709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00607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0607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418311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0" name="Shape 28"/>
          <p:cNvSpPr/>
          <p:nvPr/>
        </p:nvSpPr>
        <p:spPr>
          <a:xfrm>
            <a:off x="2480005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5725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Does each prediction surface at least three evidence tokens (PS hard metric)?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97709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7709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4812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3212516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6" name="Shape 34"/>
          <p:cNvSpPr/>
          <p:nvPr/>
        </p:nvSpPr>
        <p:spPr>
          <a:xfrm>
            <a:off x="4383938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9658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every prediction logged with timestamp, model version and confidence?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95848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98745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98745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116449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8144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3864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the log schema aligned with PCI DSS / GDPR / CCPA evidentiary requirements?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95848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95848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92950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910654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8" name="Shape 46"/>
          <p:cNvSpPr/>
          <p:nvPr/>
        </p:nvSpPr>
        <p:spPr>
          <a:xfrm>
            <a:off x="8082077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27797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raw PII masked before any persistence (Constraint C1)?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793986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96883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96883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814587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4" name="Shape 52"/>
          <p:cNvSpPr/>
          <p:nvPr/>
        </p:nvSpPr>
        <p:spPr>
          <a:xfrm>
            <a:off x="9876282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22002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dual Legal + Data-Governance sign-off enforced for Restricted (Constraint C4)?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793986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93986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691089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0608793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9 / 11   ·   PS-01   ·   Team #01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E.  Operations &amp; Reliability 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B45309"/>
                </a:solidFill>
              </a:rPr>
              <a:t>CROSS-CUTTING (NON-FUNCTIONAL)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07128" y="1325880"/>
            <a:ext cx="237744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2848" y="13441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Operations &amp; Reliability Gap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63269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8989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Performance SLA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7709" y="2057400"/>
            <a:ext cx="369813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97709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2315413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4861408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7128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Drift &amp; Retraining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848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013552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559546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5266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Registry &amp; Tracking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95848" y="2057400"/>
            <a:ext cx="3698138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93986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9711690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Does real-time classification meet p95 &lt; 200 ms per document?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97709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00607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00607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418311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0" name="Shape 28"/>
          <p:cNvSpPr/>
          <p:nvPr/>
        </p:nvSpPr>
        <p:spPr>
          <a:xfrm>
            <a:off x="2480005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5725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async batch processing decoupled from the synchronous /classify path?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97709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7709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4812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3212516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6" name="Shape 34"/>
          <p:cNvSpPr/>
          <p:nvPr/>
        </p:nvSpPr>
        <p:spPr>
          <a:xfrm>
            <a:off x="4383938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9658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drift monitored via PSI on label distribution and confidence drop?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95848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98745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98745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116449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178144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3864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Does performance degradation &gt; 3% auto-trigger a retraining cycle?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95848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95848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92950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6910654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8" name="Shape 46"/>
          <p:cNvSpPr/>
          <p:nvPr/>
        </p:nvSpPr>
        <p:spPr>
          <a:xfrm>
            <a:off x="8082077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27797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Is there a champion / challenger model registry with version history?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793986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96883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96883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814587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4" name="Shape 52"/>
          <p:cNvSpPr/>
          <p:nvPr/>
        </p:nvSpPr>
        <p:spPr>
          <a:xfrm>
            <a:off x="9876282" y="4206240"/>
            <a:ext cx="1629613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22002" y="4224528"/>
            <a:ext cx="153817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all training runs, metrics and parameters tracked in MLflow?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793986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93986" y="3474720"/>
            <a:ext cx="897103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691089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10608793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10 / 11   ·   PS-01   ·   Team #01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74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447"/>
                </a:solidFill>
              </a:rPr>
              <a:t>F.  Deployment &amp; Security  Gap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0" kern="0" dirty="0">
                <a:solidFill>
                  <a:srgbClr val="047857"/>
                </a:solidFill>
              </a:rPr>
              <a:t>CROSS-CUTTING (NON-FUNCTIONAL)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07128" y="1325880"/>
            <a:ext cx="237744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2848" y="13441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Deployment &amp; Security Gap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87804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3524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Air-gapped Deployment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2244" y="2057400"/>
            <a:ext cx="277360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2244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239948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3" name="Shape 11"/>
          <p:cNvSpPr/>
          <p:nvPr/>
        </p:nvSpPr>
        <p:spPr>
          <a:xfrm>
            <a:off x="7635011" y="2743200"/>
            <a:ext cx="2468880" cy="566928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731" y="276148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API Surface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48" y="189280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848" y="2057400"/>
            <a:ext cx="277360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451" y="2057400"/>
            <a:ext cx="0" cy="57607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787155" y="263347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206240"/>
            <a:ext cx="2554148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24528"/>
            <a:ext cx="24627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Can the system run with zero outbound network calls (Constraint C3)?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22244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62874" y="3474720"/>
            <a:ext cx="135937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2874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880578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5" name="Shape 23"/>
          <p:cNvSpPr/>
          <p:nvPr/>
        </p:nvSpPr>
        <p:spPr>
          <a:xfrm>
            <a:off x="3404540" y="4206240"/>
            <a:ext cx="2554148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0260" y="4224528"/>
            <a:ext cx="24627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optional dependencies degrade gracefully when missing?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22244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22244" y="3474720"/>
            <a:ext cx="135937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1614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4599318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1" name="Shape 29"/>
          <p:cNvSpPr/>
          <p:nvPr/>
        </p:nvSpPr>
        <p:spPr>
          <a:xfrm>
            <a:off x="6233008" y="4206240"/>
            <a:ext cx="2554148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8728" y="4224528"/>
            <a:ext cx="24627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all required REST endpoints exposed (/classify, /history, /override, /approval, /mlops/*)?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69451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10082" y="3474720"/>
            <a:ext cx="135937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10082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7427786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7" name="Shape 35"/>
          <p:cNvSpPr/>
          <p:nvPr/>
        </p:nvSpPr>
        <p:spPr>
          <a:xfrm>
            <a:off x="8951747" y="4206240"/>
            <a:ext cx="2554148" cy="868680"/>
          </a:xfrm>
          <a:prstGeom prst="rect">
            <a:avLst/>
          </a:prstGeom>
          <a:solidFill>
            <a:srgbClr val="ECEAF6"/>
          </a:solidFill>
          <a:ln w="12700">
            <a:solidFill>
              <a:srgbClr val="B7B1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97467" y="4224528"/>
            <a:ext cx="246270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Are health and metrics endpoints available for downstream integration?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69451" y="3310128"/>
            <a:ext cx="0" cy="1645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69451" y="3474720"/>
            <a:ext cx="135937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28821" y="3474720"/>
            <a:ext cx="0" cy="621792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0146525" y="4096512"/>
            <a:ext cx="164592" cy="118872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537960"/>
            <a:ext cx="11277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11 / 11   ·   PS-01   ·   Team #01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Data Sensitivity Classification Engine</dc:title>
  <dc:subject>PptxGenJS Presentation</dc:subject>
  <dc:creator>Shikha, Aditi J, Akshay Choudhari</dc:creator>
  <cp:lastModifiedBy>Shikha, Aditi J, Akshay Choudhari</cp:lastModifiedBy>
  <cp:revision>1</cp:revision>
  <dcterms:created xsi:type="dcterms:W3CDTF">2026-05-18T07:11:00Z</dcterms:created>
  <dcterms:modified xsi:type="dcterms:W3CDTF">2026-05-18T07:11:00Z</dcterms:modified>
</cp:coreProperties>
</file>