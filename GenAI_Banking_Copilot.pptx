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3" r:id="rId9"/>
    <p:sldId id="264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45940-8308-D929-87DA-C10474DFF086}" v="245" dt="2026-04-01T08:47:56.777"/>
    <p1510:client id="{5159C144-50FC-61D9-9869-8D7DBF18473F}" v="266" dt="2026-04-01T16:24:39.898"/>
    <p1510:client id="{B7DC102D-A65E-B5F5-300D-C7DA7C4D34CE}" v="100" dt="2026-04-02T04:01:07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C1234-6B37-40C2-ABD5-9935790D0AD7}" type="datetimeFigureOut"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0CAAD-F4DD-4371-A900-71CF34F458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51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0"/>
            <a:ext cx="548640" cy="5143500"/>
          </a:xfrm>
          <a:prstGeom prst="rect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400800" y="457200"/>
            <a:ext cx="502920" cy="502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772400" y="731520"/>
            <a:ext cx="594360" cy="5943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6858000" y="1645920"/>
            <a:ext cx="502920" cy="50292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8046720" y="2286000"/>
            <a:ext cx="548640" cy="54864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6492240" y="3017520"/>
            <a:ext cx="502920" cy="50292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7680960" y="3657600"/>
            <a:ext cx="594360" cy="594360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411480" y="731520"/>
            <a:ext cx="1828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4"/>
          <p:cNvSpPr/>
          <p:nvPr/>
        </p:nvSpPr>
        <p:spPr>
          <a:xfrm>
            <a:off x="411480" y="731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RAG-BASED SYSTEM</a:t>
            </a:r>
            <a:endParaRPr lang="en-US" sz="800"/>
          </a:p>
        </p:txBody>
      </p:sp>
      <p:sp>
        <p:nvSpPr>
          <p:cNvPr id="13" name="Text 5"/>
          <p:cNvSpPr/>
          <p:nvPr/>
        </p:nvSpPr>
        <p:spPr>
          <a:xfrm>
            <a:off x="411480" y="1188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Banking</a:t>
            </a:r>
            <a:endParaRPr lang="en-US" sz="4400"/>
          </a:p>
        </p:txBody>
      </p:sp>
      <p:sp>
        <p:nvSpPr>
          <p:cNvPr id="14" name="Text 6"/>
          <p:cNvSpPr/>
          <p:nvPr/>
        </p:nvSpPr>
        <p:spPr>
          <a:xfrm>
            <a:off x="411480" y="1965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Compliance</a:t>
            </a:r>
            <a:endParaRPr lang="en-US" sz="3800"/>
          </a:p>
        </p:txBody>
      </p:sp>
      <p:sp>
        <p:nvSpPr>
          <p:cNvPr id="15" name="Text 7"/>
          <p:cNvSpPr/>
          <p:nvPr/>
        </p:nvSpPr>
        <p:spPr>
          <a:xfrm>
            <a:off x="411480" y="265176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3800"/>
          </a:p>
        </p:txBody>
      </p:sp>
      <p:sp>
        <p:nvSpPr>
          <p:cNvPr id="16" name="Shape 8"/>
          <p:cNvSpPr/>
          <p:nvPr/>
        </p:nvSpPr>
        <p:spPr>
          <a:xfrm>
            <a:off x="411480" y="342900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41148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Akshay Choudhari  &amp;  Tejas Singh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02920" cy="10789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2801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155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Regulatory Landscape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1005840" y="1389888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operate under increasingly complex frameworks spanning OCC, FDIC, Federal Reserve, and international regulators—with requirements constantly evolving across multiple jurisdictions.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320040" y="2267712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267712"/>
            <a:ext cx="502920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5420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377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in Compliance</a:t>
            </a:r>
            <a:endParaRPr lang="en-US" sz="1300"/>
          </a:p>
        </p:txBody>
      </p:sp>
      <p:sp>
        <p:nvSpPr>
          <p:cNvPr id="14" name="Text 10"/>
          <p:cNvSpPr/>
          <p:nvPr/>
        </p:nvSpPr>
        <p:spPr>
          <a:xfrm>
            <a:off x="1005840" y="265176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processes rely heavily on manual document review. Officers spend countless hours searching through thousands of policy documents and regulatory updates to answer routine queries.</a:t>
            </a:r>
            <a:endParaRPr lang="en-US" sz="1050"/>
          </a:p>
        </p:txBody>
      </p:sp>
      <p:sp>
        <p:nvSpPr>
          <p:cNvPr id="15" name="Shape 11"/>
          <p:cNvSpPr/>
          <p:nvPr/>
        </p:nvSpPr>
        <p:spPr>
          <a:xfrm>
            <a:off x="320040" y="3529584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529584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8039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6393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Stakes &amp; RAG Solution</a:t>
            </a:r>
            <a:endParaRPr lang="en-US" sz="1300"/>
          </a:p>
        </p:txBody>
      </p:sp>
      <p:sp>
        <p:nvSpPr>
          <p:cNvPr id="19" name="Text 14"/>
          <p:cNvSpPr/>
          <p:nvPr/>
        </p:nvSpPr>
        <p:spPr>
          <a:xfrm>
            <a:off x="1005840" y="3913632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risks severe penalties, reputational damage, and disruptions. Our RAG-based solution delivers instant, accurate policy guidance with full audit trails and regulatory accuracy.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3383280"/>
          </a:xfrm>
          <a:prstGeom prst="rect">
            <a:avLst/>
          </a:prstGeom>
          <a:solidFill>
            <a:srgbClr val="1E4D8C">
              <a:alpha val="6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43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Overload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/>
                <a:ea typeface="Calibri"/>
                <a:cs typeface="Calibri"/>
              </a:rPr>
              <a:t>Banks face thousands of requirements from OCC, FDIC, CFPB, Basel III, and AML/KYC. Hundreds of updates published annually make cross-jurisdiction tracking nearly impossible.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00600" y="960120"/>
            <a:ext cx="4114800" cy="3383280"/>
          </a:xfrm>
          <a:prstGeom prst="rect">
            <a:avLst/>
          </a:prstGeom>
          <a:solidFill>
            <a:srgbClr val="1E4D8C">
              <a:alpha val="60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43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143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Lookup Crisis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4983480" y="17373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100" dirty="0">
                <a:solidFill>
                  <a:srgbClr val="C8D6E5"/>
                </a:solidFill>
                <a:latin typeface="Calibri"/>
                <a:ea typeface="Calibri"/>
                <a:cs typeface="Calibri"/>
              </a:rPr>
              <a:t>Compliance officers spend a lot of their time searching dense documentation. Traditional keyword search fails to capture regulatory context, creating audit risks and compliance gaps.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11480" y="4480560"/>
            <a:ext cx="8412480" cy="45720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Penalties • Reputational Damage • Operational Disruptions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7772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078992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1760" y="1097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D7DD2"/>
                </a:solidFill>
              </a:rPr>
              <a:t>1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45720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Component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457200" y="239572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database stores numerical representations (embeddings) of policy document chunks for lightning-fast semantic lookup.</a:t>
            </a:r>
            <a:endParaRPr lang="en-US" sz="1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05840"/>
            <a:ext cx="274320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078992"/>
            <a:ext cx="502920" cy="502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577840" y="1097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57784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5A623"/>
                </a:solidFill>
              </a:rPr>
              <a:t>2</a:t>
            </a:r>
            <a:endParaRPr lang="en-US" sz="900"/>
          </a:p>
        </p:txBody>
      </p:sp>
      <p:sp>
        <p:nvSpPr>
          <p:cNvPr id="17" name="Text 13"/>
          <p:cNvSpPr/>
          <p:nvPr/>
        </p:nvSpPr>
        <p:spPr>
          <a:xfrm>
            <a:off x="338328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Layer</a:t>
            </a:r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3383280" y="239572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Contextual enrichment engine combines retrieved policy documents with user queries for accurate, context-aware prompting.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17220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1005840"/>
            <a:ext cx="27432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078992"/>
            <a:ext cx="502920" cy="5029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5039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B4D8"/>
                </a:solidFill>
              </a:rPr>
              <a:t>3</a:t>
            </a:r>
            <a:endParaRPr lang="en-US" sz="900"/>
          </a:p>
        </p:txBody>
      </p:sp>
      <p:sp>
        <p:nvSpPr>
          <p:cNvPr id="24" name="Text 19"/>
          <p:cNvSpPr/>
          <p:nvPr/>
        </p:nvSpPr>
        <p:spPr>
          <a:xfrm>
            <a:off x="630936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Module</a:t>
            </a:r>
            <a:endParaRPr lang="en-US" sz="1200"/>
          </a:p>
        </p:txBody>
      </p:sp>
      <p:sp>
        <p:nvSpPr>
          <p:cNvPr id="25" name="Text 20"/>
          <p:cNvSpPr/>
          <p:nvPr/>
        </p:nvSpPr>
        <p:spPr>
          <a:xfrm>
            <a:off x="6309360" y="239572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SLM (Phi-2) synthesizes augmented context into precise, compliance-safe responses with full source attribution.</a:t>
            </a:r>
            <a:endParaRPr lang="en-US" sz="1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3063240" y="260604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191256" y="2542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B4D8"/>
                </a:solidFill>
              </a:rPr>
              <a:t>▶</a:t>
            </a:r>
            <a:endParaRPr lang="en-US" sz="900"/>
          </a:p>
        </p:txBody>
      </p:sp>
      <p:sp>
        <p:nvSpPr>
          <p:cNvPr id="28" name="Shape 23"/>
          <p:cNvSpPr/>
          <p:nvPr/>
        </p:nvSpPr>
        <p:spPr>
          <a:xfrm>
            <a:off x="5989320" y="260604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17336" y="2542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B4D8"/>
                </a:solidFill>
              </a:rPr>
              <a:t>▶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STACK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743200" cy="3657600"/>
          </a:xfrm>
          <a:prstGeom prst="rect">
            <a:avLst/>
          </a:prstGeom>
          <a:solidFill>
            <a:srgbClr val="1E4D8C">
              <a:alpha val="45000"/>
            </a:srgbClr>
          </a:solidFill>
          <a:ln w="12700">
            <a:solidFill>
              <a:srgbClr val="2D7DD2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2743200" cy="658368"/>
          </a:xfrm>
          <a:prstGeom prst="rect">
            <a:avLst/>
          </a:prstGeom>
          <a:solidFill>
            <a:srgbClr val="2D7DD2">
              <a:alpha val="8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332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33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DB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128016" cy="128016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backbone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594360" y="2542032"/>
            <a:ext cx="128016" cy="128016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document embeddings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594360" y="3255264"/>
            <a:ext cx="128016" cy="128016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2095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cosine similarity search</a:t>
            </a:r>
            <a:endParaRPr lang="en-US" sz="1050"/>
          </a:p>
        </p:txBody>
      </p:sp>
      <p:sp>
        <p:nvSpPr>
          <p:cNvPr id="15" name="Shape 12"/>
          <p:cNvSpPr/>
          <p:nvPr/>
        </p:nvSpPr>
        <p:spPr>
          <a:xfrm>
            <a:off x="3319272" y="960120"/>
            <a:ext cx="2743200" cy="3657600"/>
          </a:xfrm>
          <a:prstGeom prst="rect">
            <a:avLst/>
          </a:prstGeom>
          <a:solidFill>
            <a:srgbClr val="1E4D8C">
              <a:alpha val="4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19272" y="960120"/>
            <a:ext cx="2743200" cy="65836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033272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13632" y="1033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200"/>
          </a:p>
        </p:txBody>
      </p:sp>
      <p:sp>
        <p:nvSpPr>
          <p:cNvPr id="19" name="Shape 15"/>
          <p:cNvSpPr/>
          <p:nvPr/>
        </p:nvSpPr>
        <p:spPr>
          <a:xfrm>
            <a:off x="3502152" y="182880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30752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→ numerical vectors</a:t>
            </a:r>
            <a:endParaRPr lang="en-US" sz="1050"/>
          </a:p>
        </p:txBody>
      </p:sp>
      <p:sp>
        <p:nvSpPr>
          <p:cNvPr id="21" name="Shape 17"/>
          <p:cNvSpPr/>
          <p:nvPr/>
        </p:nvSpPr>
        <p:spPr>
          <a:xfrm>
            <a:off x="3502152" y="254203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30752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regulatory meaning</a:t>
            </a:r>
            <a:endParaRPr lang="en-US" sz="1050"/>
          </a:p>
        </p:txBody>
      </p:sp>
      <p:sp>
        <p:nvSpPr>
          <p:cNvPr id="23" name="Shape 19"/>
          <p:cNvSpPr/>
          <p:nvPr/>
        </p:nvSpPr>
        <p:spPr>
          <a:xfrm>
            <a:off x="3502152" y="32552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30752" y="32095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banking corpus</a:t>
            </a:r>
            <a:endParaRPr lang="en-US" sz="1050"/>
          </a:p>
        </p:txBody>
      </p:sp>
      <p:sp>
        <p:nvSpPr>
          <p:cNvPr id="25" name="Shape 21"/>
          <p:cNvSpPr/>
          <p:nvPr/>
        </p:nvSpPr>
        <p:spPr>
          <a:xfrm>
            <a:off x="6227064" y="960120"/>
            <a:ext cx="2743200" cy="3657600"/>
          </a:xfrm>
          <a:prstGeom prst="rect">
            <a:avLst/>
          </a:prstGeom>
          <a:solidFill>
            <a:srgbClr val="1E4D8C">
              <a:alpha val="45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27064" y="960120"/>
            <a:ext cx="2743200" cy="65836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033272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21424" y="1033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Integration (Phi-2)</a:t>
            </a:r>
            <a:endParaRPr lang="en-US" sz="1200"/>
          </a:p>
        </p:txBody>
      </p:sp>
      <p:sp>
        <p:nvSpPr>
          <p:cNvPr id="29" name="Shape 24"/>
          <p:cNvSpPr/>
          <p:nvPr/>
        </p:nvSpPr>
        <p:spPr>
          <a:xfrm>
            <a:off x="6409944" y="182880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638544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generation</a:t>
            </a:r>
            <a:endParaRPr lang="en-US" sz="1050"/>
          </a:p>
        </p:txBody>
      </p:sp>
      <p:sp>
        <p:nvSpPr>
          <p:cNvPr id="31" name="Shape 26"/>
          <p:cNvSpPr/>
          <p:nvPr/>
        </p:nvSpPr>
        <p:spPr>
          <a:xfrm>
            <a:off x="6409944" y="254203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38544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user query + retrieved context</a:t>
            </a:r>
            <a:endParaRPr lang="en-US" sz="1050"/>
          </a:p>
        </p:txBody>
      </p:sp>
      <p:sp>
        <p:nvSpPr>
          <p:cNvPr id="33" name="Shape 28"/>
          <p:cNvSpPr/>
          <p:nvPr/>
        </p:nvSpPr>
        <p:spPr>
          <a:xfrm>
            <a:off x="6409944" y="325526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38544" y="32095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compliant responses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572768" cy="59436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97840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554480"/>
            <a:ext cx="1371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D7DD2"/>
                </a:solidFill>
              </a:rPr>
              <a:t>1. Ingest</a:t>
            </a:r>
            <a:endParaRPr lang="en-US" sz="800"/>
          </a:p>
        </p:txBody>
      </p:sp>
      <p:sp>
        <p:nvSpPr>
          <p:cNvPr id="10" name="Text 7"/>
          <p:cNvSpPr/>
          <p:nvPr/>
        </p:nvSpPr>
        <p:spPr>
          <a:xfrm>
            <a:off x="365760" y="190195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365760" y="233172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parsing, text extraction, and semantic chunking</a:t>
            </a:r>
            <a:endParaRPr lang="en-US" sz="9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783080" y="22402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B4D8"/>
                </a:solidFill>
              </a:rPr>
              <a:t>▶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1993392" y="91440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93392" y="914400"/>
            <a:ext cx="1572768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978408"/>
            <a:ext cx="438912" cy="4389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084832" y="1554480"/>
            <a:ext cx="1371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84832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5A623"/>
                </a:solidFill>
              </a:rPr>
              <a:t>2. Process</a:t>
            </a:r>
            <a:endParaRPr lang="en-US" sz="800"/>
          </a:p>
        </p:txBody>
      </p:sp>
      <p:sp>
        <p:nvSpPr>
          <p:cNvPr id="18" name="Text 14"/>
          <p:cNvSpPr/>
          <p:nvPr/>
        </p:nvSpPr>
        <p:spPr>
          <a:xfrm>
            <a:off x="2084832" y="190195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/>
          </a:p>
        </p:txBody>
      </p:sp>
      <p:sp>
        <p:nvSpPr>
          <p:cNvPr id="19" name="Text 15"/>
          <p:cNvSpPr/>
          <p:nvPr/>
        </p:nvSpPr>
        <p:spPr>
          <a:xfrm>
            <a:off x="2084832" y="233172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9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Chunki</a:t>
            </a: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ng there are </a:t>
            </a:r>
            <a:r>
              <a:rPr lang="en-US" sz="9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512-token chunking with 64-token overlap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502152" y="22402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B4D8"/>
                </a:solidFill>
              </a:rPr>
              <a:t>▶</a:t>
            </a:r>
            <a:endParaRPr lang="en-US" sz="1100"/>
          </a:p>
        </p:txBody>
      </p:sp>
      <p:sp>
        <p:nvSpPr>
          <p:cNvPr id="21" name="Shape 17"/>
          <p:cNvSpPr/>
          <p:nvPr/>
        </p:nvSpPr>
        <p:spPr>
          <a:xfrm>
            <a:off x="3712464" y="91440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12464" y="914400"/>
            <a:ext cx="1572768" cy="59436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978408"/>
            <a:ext cx="438912" cy="43891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803904" y="1554480"/>
            <a:ext cx="1371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803904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D7DD2"/>
                </a:solidFill>
              </a:rPr>
              <a:t>3. Embed</a:t>
            </a:r>
            <a:endParaRPr lang="en-US" sz="800"/>
          </a:p>
        </p:txBody>
      </p:sp>
      <p:sp>
        <p:nvSpPr>
          <p:cNvPr id="26" name="Text 21"/>
          <p:cNvSpPr/>
          <p:nvPr/>
        </p:nvSpPr>
        <p:spPr>
          <a:xfrm>
            <a:off x="3803904" y="190195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/>
          </a:p>
        </p:txBody>
      </p:sp>
      <p:sp>
        <p:nvSpPr>
          <p:cNvPr id="27" name="Text 22"/>
          <p:cNvSpPr/>
          <p:nvPr/>
        </p:nvSpPr>
        <p:spPr>
          <a:xfrm>
            <a:off x="3803904" y="233172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encode chunks as dense vectors in FAISS</a:t>
            </a:r>
            <a:endParaRPr lang="en-US" sz="9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5221224" y="22402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B4D8"/>
                </a:solidFill>
              </a:rPr>
              <a:t>▶</a:t>
            </a:r>
            <a:endParaRPr lang="en-US" sz="1100"/>
          </a:p>
        </p:txBody>
      </p:sp>
      <p:sp>
        <p:nvSpPr>
          <p:cNvPr id="29" name="Shape 24"/>
          <p:cNvSpPr/>
          <p:nvPr/>
        </p:nvSpPr>
        <p:spPr>
          <a:xfrm>
            <a:off x="5431536" y="91440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31536" y="914400"/>
            <a:ext cx="157276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978408"/>
            <a:ext cx="438912" cy="43891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522976" y="1554480"/>
            <a:ext cx="1371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522976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B4D8"/>
                </a:solidFill>
              </a:rPr>
              <a:t>4. Retrieve</a:t>
            </a:r>
            <a:endParaRPr lang="en-US" sz="800"/>
          </a:p>
        </p:txBody>
      </p:sp>
      <p:sp>
        <p:nvSpPr>
          <p:cNvPr id="34" name="Text 28"/>
          <p:cNvSpPr/>
          <p:nvPr/>
        </p:nvSpPr>
        <p:spPr>
          <a:xfrm>
            <a:off x="5522976" y="190195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000"/>
          </a:p>
        </p:txBody>
      </p:sp>
      <p:sp>
        <p:nvSpPr>
          <p:cNvPr id="35" name="Text 29"/>
          <p:cNvSpPr/>
          <p:nvPr/>
        </p:nvSpPr>
        <p:spPr>
          <a:xfrm>
            <a:off x="5522976" y="233172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embedded; cosine similarity retrieves top-k chunks</a:t>
            </a:r>
            <a:endParaRPr lang="en-US" sz="9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940296" y="22402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B4D8"/>
                </a:solidFill>
              </a:rPr>
              <a:t>▶</a:t>
            </a:r>
            <a:endParaRPr lang="en-US" sz="1100"/>
          </a:p>
        </p:txBody>
      </p:sp>
      <p:sp>
        <p:nvSpPr>
          <p:cNvPr id="37" name="Shape 31"/>
          <p:cNvSpPr/>
          <p:nvPr/>
        </p:nvSpPr>
        <p:spPr>
          <a:xfrm>
            <a:off x="7150608" y="91440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150608" y="914400"/>
            <a:ext cx="1572768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978408"/>
            <a:ext cx="438912" cy="438912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7242048" y="1554480"/>
            <a:ext cx="137160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242048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5A623"/>
                </a:solidFill>
              </a:rPr>
              <a:t>5. Generate</a:t>
            </a:r>
            <a:endParaRPr lang="en-US" sz="800"/>
          </a:p>
        </p:txBody>
      </p:sp>
      <p:sp>
        <p:nvSpPr>
          <p:cNvPr id="42" name="Text 35"/>
          <p:cNvSpPr/>
          <p:nvPr/>
        </p:nvSpPr>
        <p:spPr>
          <a:xfrm>
            <a:off x="7242048" y="190195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Generation</a:t>
            </a:r>
            <a:endParaRPr lang="en-US" sz="1000"/>
          </a:p>
        </p:txBody>
      </p:sp>
      <p:sp>
        <p:nvSpPr>
          <p:cNvPr id="43" name="Text 36"/>
          <p:cNvSpPr/>
          <p:nvPr/>
        </p:nvSpPr>
        <p:spPr>
          <a:xfrm>
            <a:off x="7242048" y="233172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Phi-2 generates cited, compliant response from augmented context</a:t>
            </a:r>
            <a:endParaRPr lang="en-US" sz="9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" name="Shape 37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0A1628">
              <a:alpha val="90000"/>
            </a:srgbClr>
          </a:solidFill>
          <a:ln w="12700">
            <a:solidFill>
              <a:srgbClr val="0A1628">
                <a:alpha val="7000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Pipeline — Source citations included in every response for full audit traceability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6949440" y="146304"/>
            <a:ext cx="1874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463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1628"/>
                </a:solidFill>
              </a:rPr>
              <a:t>GenAI Banking Copilot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914400" cy="749808"/>
          </a:xfrm>
          <a:prstGeom prst="rect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914400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600"/>
          </a:p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/>
          </a:p>
        </p:txBody>
      </p:sp>
      <p:sp>
        <p:nvSpPr>
          <p:cNvPr id="9" name="Shape 7"/>
          <p:cNvSpPr/>
          <p:nvPr/>
        </p:nvSpPr>
        <p:spPr>
          <a:xfrm>
            <a:off x="201168" y="1664208"/>
            <a:ext cx="914400" cy="749808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664208"/>
            <a:ext cx="914400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600"/>
          </a:p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/>
          </a:p>
        </p:txBody>
      </p:sp>
      <p:sp>
        <p:nvSpPr>
          <p:cNvPr id="11" name="Shape 9"/>
          <p:cNvSpPr/>
          <p:nvPr/>
        </p:nvSpPr>
        <p:spPr>
          <a:xfrm>
            <a:off x="201168" y="2578608"/>
            <a:ext cx="914400" cy="749808"/>
          </a:xfrm>
          <a:prstGeom prst="rect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578608"/>
            <a:ext cx="914400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600"/>
          </a:p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/>
          </a:p>
        </p:txBody>
      </p:sp>
      <p:sp>
        <p:nvSpPr>
          <p:cNvPr id="13" name="Shape 11"/>
          <p:cNvSpPr/>
          <p:nvPr/>
        </p:nvSpPr>
        <p:spPr>
          <a:xfrm>
            <a:off x="201168" y="3456432"/>
            <a:ext cx="914400" cy="749808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3456432"/>
            <a:ext cx="914400" cy="7498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600"/>
          </a:p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/>
          </a:p>
        </p:txBody>
      </p:sp>
      <p:sp>
        <p:nvSpPr>
          <p:cNvPr id="15" name="Shape 13"/>
          <p:cNvSpPr/>
          <p:nvPr/>
        </p:nvSpPr>
        <p:spPr>
          <a:xfrm>
            <a:off x="201168" y="4315968"/>
            <a:ext cx="914400" cy="566928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4315968"/>
            <a:ext cx="91440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600"/>
          </a:p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/>
          </a:p>
        </p:txBody>
      </p:sp>
      <p:sp>
        <p:nvSpPr>
          <p:cNvPr id="17" name="Shape 15"/>
          <p:cNvSpPr/>
          <p:nvPr/>
        </p:nvSpPr>
        <p:spPr>
          <a:xfrm>
            <a:off x="1207008" y="749808"/>
            <a:ext cx="132588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2D7DD2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07008" y="749808"/>
            <a:ext cx="1325880" cy="502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87068" y="813816"/>
            <a:ext cx="365760" cy="365760"/>
          </a:xfrm>
          <a:prstGeom prst="ellipse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841248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52728" y="12070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850"/>
          </a:p>
        </p:txBody>
      </p:sp>
      <p:sp>
        <p:nvSpPr>
          <p:cNvPr id="22" name="Text 19"/>
          <p:cNvSpPr/>
          <p:nvPr/>
        </p:nvSpPr>
        <p:spPr>
          <a:xfrm>
            <a:off x="1243584" y="1371600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650"/>
          </a:p>
        </p:txBody>
      </p:sp>
      <p:sp>
        <p:nvSpPr>
          <p:cNvPr id="23" name="Shape 20"/>
          <p:cNvSpPr/>
          <p:nvPr/>
        </p:nvSpPr>
        <p:spPr>
          <a:xfrm>
            <a:off x="2834640" y="749808"/>
            <a:ext cx="173736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2D7DD2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34640" y="749808"/>
            <a:ext cx="1737360" cy="502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20440" y="813816"/>
            <a:ext cx="365760" cy="365760"/>
          </a:xfrm>
          <a:prstGeom prst="ellipse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841248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880360" y="1207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</a:t>
            </a:r>
            <a:endParaRPr lang="en-US" sz="850"/>
          </a:p>
        </p:txBody>
      </p:sp>
      <p:sp>
        <p:nvSpPr>
          <p:cNvPr id="28" name="Text 24"/>
          <p:cNvSpPr/>
          <p:nvPr/>
        </p:nvSpPr>
        <p:spPr>
          <a:xfrm>
            <a:off x="2871216" y="1371600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Interface</a:t>
            </a:r>
            <a:endParaRPr lang="en-US" sz="650"/>
          </a:p>
        </p:txBody>
      </p:sp>
      <p:sp>
        <p:nvSpPr>
          <p:cNvPr id="29" name="Shape 25"/>
          <p:cNvSpPr/>
          <p:nvPr/>
        </p:nvSpPr>
        <p:spPr>
          <a:xfrm>
            <a:off x="4892040" y="749808"/>
            <a:ext cx="146304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2D7DD2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892040" y="749808"/>
            <a:ext cx="1463040" cy="502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440680" y="813816"/>
            <a:ext cx="365760" cy="365760"/>
          </a:xfrm>
          <a:prstGeom prst="ellipse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841248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937760" y="1207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850"/>
          </a:p>
        </p:txBody>
      </p:sp>
      <p:sp>
        <p:nvSpPr>
          <p:cNvPr id="34" name="Text 29"/>
          <p:cNvSpPr/>
          <p:nvPr/>
        </p:nvSpPr>
        <p:spPr>
          <a:xfrm>
            <a:off x="4928616" y="137160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</a:t>
            </a:r>
            <a:endParaRPr lang="en-US" sz="650"/>
          </a:p>
        </p:txBody>
      </p:sp>
      <p:sp>
        <p:nvSpPr>
          <p:cNvPr id="35" name="Shape 30"/>
          <p:cNvSpPr/>
          <p:nvPr/>
        </p:nvSpPr>
        <p:spPr>
          <a:xfrm>
            <a:off x="6675120" y="749808"/>
            <a:ext cx="201168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2D7DD2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675120" y="749808"/>
            <a:ext cx="2011680" cy="502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498080" y="813816"/>
            <a:ext cx="365760" cy="365760"/>
          </a:xfrm>
          <a:prstGeom prst="ellipse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841248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720840" y="12070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Input</a:t>
            </a:r>
            <a:endParaRPr lang="en-US" sz="850"/>
          </a:p>
        </p:txBody>
      </p:sp>
      <p:sp>
        <p:nvSpPr>
          <p:cNvPr id="40" name="Text 34"/>
          <p:cNvSpPr/>
          <p:nvPr/>
        </p:nvSpPr>
        <p:spPr>
          <a:xfrm>
            <a:off x="6711696" y="1371600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Questions</a:t>
            </a:r>
            <a:endParaRPr lang="en-US" sz="650"/>
          </a:p>
        </p:txBody>
      </p:sp>
      <p:sp>
        <p:nvSpPr>
          <p:cNvPr id="41" name="Shape 35"/>
          <p:cNvSpPr/>
          <p:nvPr/>
        </p:nvSpPr>
        <p:spPr>
          <a:xfrm>
            <a:off x="2532888" y="1108253"/>
            <a:ext cx="192024" cy="3291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2670048" y="10332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2D7DD2"/>
                </a:solidFill>
              </a:rPr>
              <a:t>▶</a:t>
            </a:r>
            <a:endParaRPr lang="en-US" sz="800"/>
          </a:p>
        </p:txBody>
      </p:sp>
      <p:sp>
        <p:nvSpPr>
          <p:cNvPr id="43" name="Shape 37"/>
          <p:cNvSpPr/>
          <p:nvPr/>
        </p:nvSpPr>
        <p:spPr>
          <a:xfrm>
            <a:off x="4572000" y="1108253"/>
            <a:ext cx="210312" cy="3291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727448" y="10332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2D7DD2"/>
                </a:solidFill>
              </a:rPr>
              <a:t>▶</a:t>
            </a:r>
            <a:endParaRPr lang="en-US" sz="800"/>
          </a:p>
        </p:txBody>
      </p:sp>
      <p:sp>
        <p:nvSpPr>
          <p:cNvPr id="45" name="Shape 39"/>
          <p:cNvSpPr/>
          <p:nvPr/>
        </p:nvSpPr>
        <p:spPr>
          <a:xfrm>
            <a:off x="6355080" y="1108253"/>
            <a:ext cx="210312" cy="3291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510528" y="10332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2D7DD2"/>
                </a:solidFill>
              </a:rPr>
              <a:t>▶</a:t>
            </a:r>
            <a:endParaRPr lang="en-US" sz="800"/>
          </a:p>
        </p:txBody>
      </p:sp>
      <p:sp>
        <p:nvSpPr>
          <p:cNvPr id="47" name="Shape 41"/>
          <p:cNvSpPr/>
          <p:nvPr/>
        </p:nvSpPr>
        <p:spPr>
          <a:xfrm>
            <a:off x="1207008" y="1664208"/>
            <a:ext cx="132588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F5A623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1207008" y="1664208"/>
            <a:ext cx="132588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687068" y="1728216"/>
            <a:ext cx="365760" cy="365760"/>
          </a:xfrm>
          <a:prstGeom prst="ellipse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932" y="1755648"/>
            <a:ext cx="256032" cy="256032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1252728" y="2121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Policy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850"/>
          </a:p>
        </p:txBody>
      </p:sp>
      <p:sp>
        <p:nvSpPr>
          <p:cNvPr id="52" name="Text 45"/>
          <p:cNvSpPr/>
          <p:nvPr/>
        </p:nvSpPr>
        <p:spPr>
          <a:xfrm>
            <a:off x="1243584" y="2286000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Corpus</a:t>
            </a:r>
            <a:endParaRPr lang="en-US" sz="650"/>
          </a:p>
        </p:txBody>
      </p:sp>
      <p:sp>
        <p:nvSpPr>
          <p:cNvPr id="53" name="Shape 46"/>
          <p:cNvSpPr/>
          <p:nvPr/>
        </p:nvSpPr>
        <p:spPr>
          <a:xfrm>
            <a:off x="2834640" y="1664208"/>
            <a:ext cx="164592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F5A623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2834640" y="1664208"/>
            <a:ext cx="164592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3474720" y="1728216"/>
            <a:ext cx="365760" cy="365760"/>
          </a:xfrm>
          <a:prstGeom prst="ellipse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1755648"/>
            <a:ext cx="256032" cy="256032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2880360" y="2121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850"/>
          </a:p>
        </p:txBody>
      </p:sp>
      <p:sp>
        <p:nvSpPr>
          <p:cNvPr id="58" name="Text 50"/>
          <p:cNvSpPr/>
          <p:nvPr/>
        </p:nvSpPr>
        <p:spPr>
          <a:xfrm>
            <a:off x="2871216" y="2286000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Parse</a:t>
            </a:r>
            <a:endParaRPr lang="en-US" sz="650"/>
          </a:p>
        </p:txBody>
      </p:sp>
      <p:sp>
        <p:nvSpPr>
          <p:cNvPr id="59" name="Shape 51"/>
          <p:cNvSpPr/>
          <p:nvPr/>
        </p:nvSpPr>
        <p:spPr>
          <a:xfrm>
            <a:off x="4800600" y="1664208"/>
            <a:ext cx="178308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F5A623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0" name="Shape 52"/>
          <p:cNvSpPr/>
          <p:nvPr/>
        </p:nvSpPr>
        <p:spPr>
          <a:xfrm>
            <a:off x="4800600" y="1664208"/>
            <a:ext cx="178308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5509260" y="1728216"/>
            <a:ext cx="365760" cy="365760"/>
          </a:xfrm>
          <a:prstGeom prst="ellipse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4124" y="1755648"/>
            <a:ext cx="256032" cy="256032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4846320" y="21214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Engine</a:t>
            </a:r>
            <a:endParaRPr lang="en-US" sz="850"/>
          </a:p>
        </p:txBody>
      </p:sp>
      <p:sp>
        <p:nvSpPr>
          <p:cNvPr id="64" name="Text 55"/>
          <p:cNvSpPr/>
          <p:nvPr/>
        </p:nvSpPr>
        <p:spPr>
          <a:xfrm>
            <a:off x="4837176" y="2286000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512T / 64T Overlap</a:t>
            </a:r>
            <a:endParaRPr lang="en-US" sz="650"/>
          </a:p>
        </p:txBody>
      </p:sp>
      <p:sp>
        <p:nvSpPr>
          <p:cNvPr id="71" name="Shape 61"/>
          <p:cNvSpPr/>
          <p:nvPr/>
        </p:nvSpPr>
        <p:spPr>
          <a:xfrm>
            <a:off x="2532888" y="2022653"/>
            <a:ext cx="192024" cy="3291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2" name="Text 62"/>
          <p:cNvSpPr/>
          <p:nvPr/>
        </p:nvSpPr>
        <p:spPr>
          <a:xfrm>
            <a:off x="2670048" y="1947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A623"/>
                </a:solidFill>
              </a:rPr>
              <a:t>▶</a:t>
            </a:r>
            <a:endParaRPr lang="en-US" sz="800"/>
          </a:p>
        </p:txBody>
      </p:sp>
      <p:sp>
        <p:nvSpPr>
          <p:cNvPr id="73" name="Shape 63"/>
          <p:cNvSpPr/>
          <p:nvPr/>
        </p:nvSpPr>
        <p:spPr>
          <a:xfrm>
            <a:off x="4480560" y="2022653"/>
            <a:ext cx="210312" cy="3291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4" name="Text 64"/>
          <p:cNvSpPr/>
          <p:nvPr/>
        </p:nvSpPr>
        <p:spPr>
          <a:xfrm>
            <a:off x="4636008" y="1947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A623"/>
                </a:solidFill>
              </a:rPr>
              <a:t>▶</a:t>
            </a:r>
            <a:endParaRPr lang="en-US" sz="800"/>
          </a:p>
        </p:txBody>
      </p:sp>
      <p:sp>
        <p:nvSpPr>
          <p:cNvPr id="77" name="Shape 67"/>
          <p:cNvSpPr/>
          <p:nvPr/>
        </p:nvSpPr>
        <p:spPr>
          <a:xfrm>
            <a:off x="5607101" y="1499616"/>
            <a:ext cx="3291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8" name="Text 68"/>
          <p:cNvSpPr/>
          <p:nvPr/>
        </p:nvSpPr>
        <p:spPr>
          <a:xfrm>
            <a:off x="5532120" y="15179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A623"/>
                </a:solidFill>
              </a:rPr>
              <a:t>▼</a:t>
            </a:r>
            <a:endParaRPr lang="en-US" sz="800"/>
          </a:p>
        </p:txBody>
      </p:sp>
      <p:sp>
        <p:nvSpPr>
          <p:cNvPr id="79" name="Shape 69"/>
          <p:cNvSpPr/>
          <p:nvPr/>
        </p:nvSpPr>
        <p:spPr>
          <a:xfrm>
            <a:off x="1207008" y="2578608"/>
            <a:ext cx="187452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2D7DD2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0" name="Shape 70"/>
          <p:cNvSpPr/>
          <p:nvPr/>
        </p:nvSpPr>
        <p:spPr>
          <a:xfrm>
            <a:off x="1207008" y="2578608"/>
            <a:ext cx="1874520" cy="502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1961388" y="2642616"/>
            <a:ext cx="365760" cy="365760"/>
          </a:xfrm>
          <a:prstGeom prst="ellipse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8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6252" y="2670048"/>
            <a:ext cx="256032" cy="256032"/>
          </a:xfrm>
          <a:prstGeom prst="rect">
            <a:avLst/>
          </a:prstGeom>
        </p:spPr>
      </p:pic>
      <p:sp>
        <p:nvSpPr>
          <p:cNvPr id="83" name="Text 72"/>
          <p:cNvSpPr/>
          <p:nvPr/>
        </p:nvSpPr>
        <p:spPr>
          <a:xfrm>
            <a:off x="1252728" y="30358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ea typeface="Calibri"/>
                <a:cs typeface="Calibri"/>
              </a:rPr>
              <a:t>TF-IDF </a:t>
            </a:r>
            <a:r>
              <a:rPr lang="en-US" sz="850" b="1" dirty="0" err="1">
                <a:solidFill>
                  <a:srgbClr val="FFFFFF"/>
                </a:solidFill>
                <a:ea typeface="Calibri"/>
                <a:cs typeface="Calibri"/>
              </a:rPr>
              <a:t>vecto</a:t>
            </a:r>
            <a:r>
              <a:rPr lang="en-US" sz="850" b="1" dirty="0">
                <a:solidFill>
                  <a:srgbClr val="FFFFFF"/>
                </a:solidFill>
                <a:ea typeface="Calibri"/>
                <a:cs typeface="Calibri"/>
              </a:rPr>
              <a:t>r </a:t>
            </a:r>
          </a:p>
        </p:txBody>
      </p:sp>
      <p:sp>
        <p:nvSpPr>
          <p:cNvPr id="85" name="Shape 74"/>
          <p:cNvSpPr/>
          <p:nvPr/>
        </p:nvSpPr>
        <p:spPr>
          <a:xfrm>
            <a:off x="3291840" y="2578608"/>
            <a:ext cx="182880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2D7DD2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6" name="Shape 75"/>
          <p:cNvSpPr/>
          <p:nvPr/>
        </p:nvSpPr>
        <p:spPr>
          <a:xfrm>
            <a:off x="3291840" y="2578608"/>
            <a:ext cx="1828800" cy="502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4023360" y="2642616"/>
            <a:ext cx="365760" cy="365760"/>
          </a:xfrm>
          <a:prstGeom prst="ellipse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8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8224" y="2670048"/>
            <a:ext cx="256032" cy="256032"/>
          </a:xfrm>
          <a:prstGeom prst="rect">
            <a:avLst/>
          </a:prstGeom>
        </p:spPr>
      </p:pic>
      <p:sp>
        <p:nvSpPr>
          <p:cNvPr id="89" name="Text 77"/>
          <p:cNvSpPr/>
          <p:nvPr/>
        </p:nvSpPr>
        <p:spPr>
          <a:xfrm>
            <a:off x="3337560" y="3035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50"/>
          </a:p>
        </p:txBody>
      </p:sp>
      <p:sp>
        <p:nvSpPr>
          <p:cNvPr id="90" name="Text 78"/>
          <p:cNvSpPr/>
          <p:nvPr/>
        </p:nvSpPr>
        <p:spPr>
          <a:xfrm>
            <a:off x="3328416" y="32004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Index</a:t>
            </a:r>
            <a:endParaRPr lang="en-US" sz="650"/>
          </a:p>
        </p:txBody>
      </p:sp>
      <p:sp>
        <p:nvSpPr>
          <p:cNvPr id="91" name="Shape 79"/>
          <p:cNvSpPr/>
          <p:nvPr/>
        </p:nvSpPr>
        <p:spPr>
          <a:xfrm>
            <a:off x="5486400" y="2578608"/>
            <a:ext cx="169164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2D7DD2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2" name="Shape 80"/>
          <p:cNvSpPr/>
          <p:nvPr/>
        </p:nvSpPr>
        <p:spPr>
          <a:xfrm>
            <a:off x="5486400" y="2578608"/>
            <a:ext cx="1691640" cy="502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93" name="Shape 81"/>
          <p:cNvSpPr/>
          <p:nvPr/>
        </p:nvSpPr>
        <p:spPr>
          <a:xfrm>
            <a:off x="6149340" y="2642616"/>
            <a:ext cx="365760" cy="365760"/>
          </a:xfrm>
          <a:prstGeom prst="ellipse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94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204" y="2670048"/>
            <a:ext cx="256032" cy="256032"/>
          </a:xfrm>
          <a:prstGeom prst="rect">
            <a:avLst/>
          </a:prstGeom>
        </p:spPr>
      </p:pic>
      <p:sp>
        <p:nvSpPr>
          <p:cNvPr id="95" name="Text 82"/>
          <p:cNvSpPr/>
          <p:nvPr/>
        </p:nvSpPr>
        <p:spPr>
          <a:xfrm>
            <a:off x="5532120" y="3035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/>
          </a:p>
        </p:txBody>
      </p:sp>
      <p:sp>
        <p:nvSpPr>
          <p:cNvPr id="96" name="Text 83"/>
          <p:cNvSpPr/>
          <p:nvPr/>
        </p:nvSpPr>
        <p:spPr>
          <a:xfrm>
            <a:off x="5522976" y="3200400"/>
            <a:ext cx="1618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 · Top-K</a:t>
            </a:r>
            <a:endParaRPr lang="en-US" sz="650"/>
          </a:p>
        </p:txBody>
      </p:sp>
      <p:sp>
        <p:nvSpPr>
          <p:cNvPr id="97" name="Shape 84"/>
          <p:cNvSpPr/>
          <p:nvPr/>
        </p:nvSpPr>
        <p:spPr>
          <a:xfrm>
            <a:off x="7498080" y="2578608"/>
            <a:ext cx="1188720" cy="749808"/>
          </a:xfrm>
          <a:prstGeom prst="rect">
            <a:avLst/>
          </a:prstGeom>
          <a:solidFill>
            <a:srgbClr val="1E4D8C">
              <a:alpha val="65000"/>
            </a:srgbClr>
          </a:solidFill>
          <a:ln w="12700">
            <a:solidFill>
              <a:srgbClr val="2D7DD2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8" name="Shape 85"/>
          <p:cNvSpPr/>
          <p:nvPr/>
        </p:nvSpPr>
        <p:spPr>
          <a:xfrm>
            <a:off x="7498080" y="2578608"/>
            <a:ext cx="1188720" cy="502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99" name="Shape 86"/>
          <p:cNvSpPr/>
          <p:nvPr/>
        </p:nvSpPr>
        <p:spPr>
          <a:xfrm>
            <a:off x="7909560" y="2642616"/>
            <a:ext cx="365760" cy="365760"/>
          </a:xfrm>
          <a:prstGeom prst="ellipse">
            <a:avLst/>
          </a:prstGeom>
          <a:solidFill>
            <a:srgbClr val="2D7DD2">
              <a:alpha val="75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100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4424" y="2670048"/>
            <a:ext cx="256032" cy="256032"/>
          </a:xfrm>
          <a:prstGeom prst="rect">
            <a:avLst/>
          </a:prstGeom>
        </p:spPr>
      </p:pic>
      <p:sp>
        <p:nvSpPr>
          <p:cNvPr id="101" name="Text 87"/>
          <p:cNvSpPr/>
          <p:nvPr/>
        </p:nvSpPr>
        <p:spPr>
          <a:xfrm>
            <a:off x="7543800" y="30358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50"/>
          </a:p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850"/>
          </a:p>
        </p:txBody>
      </p:sp>
      <p:sp>
        <p:nvSpPr>
          <p:cNvPr id="102" name="Text 88"/>
          <p:cNvSpPr/>
          <p:nvPr/>
        </p:nvSpPr>
        <p:spPr>
          <a:xfrm>
            <a:off x="7534656" y="320040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Prompt</a:t>
            </a:r>
            <a:endParaRPr lang="en-US" sz="650"/>
          </a:p>
        </p:txBody>
      </p:sp>
      <p:sp>
        <p:nvSpPr>
          <p:cNvPr id="103" name="Shape 89"/>
          <p:cNvSpPr/>
          <p:nvPr/>
        </p:nvSpPr>
        <p:spPr>
          <a:xfrm>
            <a:off x="3081528" y="2937053"/>
            <a:ext cx="100584" cy="3291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4" name="Text 90"/>
          <p:cNvSpPr/>
          <p:nvPr/>
        </p:nvSpPr>
        <p:spPr>
          <a:xfrm>
            <a:off x="3127248" y="28620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2D7DD2"/>
                </a:solidFill>
              </a:rPr>
              <a:t>▶</a:t>
            </a:r>
            <a:endParaRPr lang="en-US" sz="800"/>
          </a:p>
        </p:txBody>
      </p:sp>
      <p:sp>
        <p:nvSpPr>
          <p:cNvPr id="105" name="Shape 91"/>
          <p:cNvSpPr/>
          <p:nvPr/>
        </p:nvSpPr>
        <p:spPr>
          <a:xfrm>
            <a:off x="5120640" y="2937053"/>
            <a:ext cx="256032" cy="3291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6" name="Text 92"/>
          <p:cNvSpPr/>
          <p:nvPr/>
        </p:nvSpPr>
        <p:spPr>
          <a:xfrm>
            <a:off x="5321808" y="28620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2D7DD2"/>
                </a:solidFill>
              </a:rPr>
              <a:t>▶</a:t>
            </a:r>
            <a:endParaRPr lang="en-US" sz="800"/>
          </a:p>
        </p:txBody>
      </p:sp>
      <p:sp>
        <p:nvSpPr>
          <p:cNvPr id="107" name="Shape 93"/>
          <p:cNvSpPr/>
          <p:nvPr/>
        </p:nvSpPr>
        <p:spPr>
          <a:xfrm>
            <a:off x="7178040" y="2937053"/>
            <a:ext cx="210312" cy="3291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8" name="Text 94"/>
          <p:cNvSpPr/>
          <p:nvPr/>
        </p:nvSpPr>
        <p:spPr>
          <a:xfrm>
            <a:off x="7333488" y="28620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2D7DD2"/>
                </a:solidFill>
              </a:rPr>
              <a:t>▶</a:t>
            </a:r>
            <a:endParaRPr lang="en-US" sz="800"/>
          </a:p>
        </p:txBody>
      </p:sp>
      <p:sp>
        <p:nvSpPr>
          <p:cNvPr id="109" name="Shape 95"/>
          <p:cNvSpPr/>
          <p:nvPr/>
        </p:nvSpPr>
        <p:spPr>
          <a:xfrm>
            <a:off x="2127809" y="2414016"/>
            <a:ext cx="32918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10" name="Text 96"/>
          <p:cNvSpPr/>
          <p:nvPr/>
        </p:nvSpPr>
        <p:spPr>
          <a:xfrm>
            <a:off x="2052828" y="2432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2D7DD2"/>
                </a:solidFill>
              </a:rPr>
              <a:t>▼</a:t>
            </a:r>
            <a:endParaRPr lang="en-US" sz="800"/>
          </a:p>
        </p:txBody>
      </p:sp>
      <p:sp>
        <p:nvSpPr>
          <p:cNvPr id="111" name="Shape 97"/>
          <p:cNvSpPr/>
          <p:nvPr/>
        </p:nvSpPr>
        <p:spPr>
          <a:xfrm>
            <a:off x="7664501" y="1499616"/>
            <a:ext cx="32918" cy="9692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12" name="Text 98"/>
          <p:cNvSpPr/>
          <p:nvPr/>
        </p:nvSpPr>
        <p:spPr>
          <a:xfrm>
            <a:off x="7589520" y="2432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2D7DD2"/>
                </a:solidFill>
              </a:rPr>
              <a:t>▼</a:t>
            </a:r>
            <a:endParaRPr lang="en-US" sz="800"/>
          </a:p>
        </p:txBody>
      </p:sp>
      <p:sp>
        <p:nvSpPr>
          <p:cNvPr id="113" name="Shape 99"/>
          <p:cNvSpPr/>
          <p:nvPr/>
        </p:nvSpPr>
        <p:spPr>
          <a:xfrm>
            <a:off x="8075981" y="3328416"/>
            <a:ext cx="32918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4" name="Text 100"/>
          <p:cNvSpPr/>
          <p:nvPr/>
        </p:nvSpPr>
        <p:spPr>
          <a:xfrm>
            <a:off x="8001000" y="33101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B4D8"/>
                </a:solidFill>
              </a:rPr>
              <a:t>▼</a:t>
            </a:r>
            <a:endParaRPr lang="en-US" sz="800"/>
          </a:p>
        </p:txBody>
      </p:sp>
      <p:sp>
        <p:nvSpPr>
          <p:cNvPr id="115" name="Shape 101"/>
          <p:cNvSpPr/>
          <p:nvPr/>
        </p:nvSpPr>
        <p:spPr>
          <a:xfrm>
            <a:off x="1207008" y="3456432"/>
            <a:ext cx="7479792" cy="749808"/>
          </a:xfrm>
          <a:prstGeom prst="rect">
            <a:avLst/>
          </a:prstGeom>
          <a:solidFill>
            <a:srgbClr val="0C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6" name="Shape 102"/>
          <p:cNvSpPr/>
          <p:nvPr/>
        </p:nvSpPr>
        <p:spPr>
          <a:xfrm>
            <a:off x="1207008" y="3456432"/>
            <a:ext cx="74797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7" name="Shape 103"/>
          <p:cNvSpPr/>
          <p:nvPr/>
        </p:nvSpPr>
        <p:spPr>
          <a:xfrm>
            <a:off x="1316736" y="3566160"/>
            <a:ext cx="475488" cy="475488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9888" y="3611880"/>
            <a:ext cx="329184" cy="329184"/>
          </a:xfrm>
          <a:prstGeom prst="rect">
            <a:avLst/>
          </a:prstGeom>
        </p:spPr>
      </p:pic>
      <p:sp>
        <p:nvSpPr>
          <p:cNvPr id="119" name="Text 104"/>
          <p:cNvSpPr/>
          <p:nvPr/>
        </p:nvSpPr>
        <p:spPr>
          <a:xfrm>
            <a:off x="1901952" y="3547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 ·  Phi-2  —  Answer Generation Engine</a:t>
            </a:r>
            <a:endParaRPr lang="en-US" sz="1200"/>
          </a:p>
        </p:txBody>
      </p:sp>
      <p:sp>
        <p:nvSpPr>
          <p:cNvPr id="120" name="Text 105"/>
          <p:cNvSpPr/>
          <p:nvPr/>
        </p:nvSpPr>
        <p:spPr>
          <a:xfrm>
            <a:off x="1901952" y="38770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Context  ·  Compliance-Safe Prompting  ·  Citation-Backed Response Synthesis</a:t>
            </a:r>
            <a:endParaRPr lang="en-US" sz="750"/>
          </a:p>
        </p:txBody>
      </p:sp>
      <p:sp>
        <p:nvSpPr>
          <p:cNvPr id="121" name="Shape 106"/>
          <p:cNvSpPr/>
          <p:nvPr/>
        </p:nvSpPr>
        <p:spPr>
          <a:xfrm>
            <a:off x="7607808" y="3621024"/>
            <a:ext cx="384048" cy="384048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1816" y="3666744"/>
            <a:ext cx="256032" cy="256032"/>
          </a:xfrm>
          <a:prstGeom prst="rect">
            <a:avLst/>
          </a:prstGeom>
        </p:spPr>
      </p:pic>
      <p:sp>
        <p:nvSpPr>
          <p:cNvPr id="123" name="Text 107"/>
          <p:cNvSpPr/>
          <p:nvPr/>
        </p:nvSpPr>
        <p:spPr>
          <a:xfrm>
            <a:off x="8046720" y="3639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750"/>
          </a:p>
          <a:p>
            <a:pPr marL="0" indent="0">
              <a:buNone/>
            </a:pPr>
            <a:r>
              <a:rPr lang="en-US" sz="7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50"/>
          </a:p>
        </p:txBody>
      </p:sp>
      <p:sp>
        <p:nvSpPr>
          <p:cNvPr id="124" name="Shape 108"/>
          <p:cNvSpPr/>
          <p:nvPr/>
        </p:nvSpPr>
        <p:spPr>
          <a:xfrm>
            <a:off x="4930445" y="4206240"/>
            <a:ext cx="32918" cy="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5" name="Text 109"/>
          <p:cNvSpPr/>
          <p:nvPr/>
        </p:nvSpPr>
        <p:spPr>
          <a:xfrm>
            <a:off x="4855464" y="41696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5A623"/>
                </a:solidFill>
              </a:rPr>
              <a:t>▼</a:t>
            </a:r>
            <a:endParaRPr lang="en-US" sz="800"/>
          </a:p>
        </p:txBody>
      </p:sp>
      <p:sp>
        <p:nvSpPr>
          <p:cNvPr id="126" name="Shape 110"/>
          <p:cNvSpPr/>
          <p:nvPr/>
        </p:nvSpPr>
        <p:spPr>
          <a:xfrm>
            <a:off x="1207008" y="4315968"/>
            <a:ext cx="2240280" cy="566928"/>
          </a:xfrm>
          <a:prstGeom prst="rect">
            <a:avLst/>
          </a:prstGeom>
          <a:solidFill>
            <a:srgbClr val="2D7DD2">
              <a:alpha val="80000"/>
            </a:srgbClr>
          </a:solidFill>
          <a:ln w="12700">
            <a:solidFill>
              <a:srgbClr val="2D7DD2">
                <a:alpha val="7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7" name="Text 111"/>
          <p:cNvSpPr/>
          <p:nvPr/>
        </p:nvSpPr>
        <p:spPr>
          <a:xfrm>
            <a:off x="1298448" y="43708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Response</a:t>
            </a:r>
            <a:endParaRPr lang="en-US" sz="950"/>
          </a:p>
        </p:txBody>
      </p:sp>
      <p:sp>
        <p:nvSpPr>
          <p:cNvPr id="128" name="Text 112"/>
          <p:cNvSpPr/>
          <p:nvPr/>
        </p:nvSpPr>
        <p:spPr>
          <a:xfrm>
            <a:off x="1298448" y="46268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·  Section  ·  Date</a:t>
            </a:r>
            <a:endParaRPr lang="en-US" sz="700"/>
          </a:p>
        </p:txBody>
      </p:sp>
      <p:sp>
        <p:nvSpPr>
          <p:cNvPr id="129" name="Shape 113"/>
          <p:cNvSpPr/>
          <p:nvPr/>
        </p:nvSpPr>
        <p:spPr>
          <a:xfrm>
            <a:off x="3739896" y="4315968"/>
            <a:ext cx="2240280" cy="566928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0" name="Text 114"/>
          <p:cNvSpPr/>
          <p:nvPr/>
        </p:nvSpPr>
        <p:spPr>
          <a:xfrm>
            <a:off x="3831336" y="43708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Log</a:t>
            </a:r>
            <a:endParaRPr lang="en-US" sz="950"/>
          </a:p>
        </p:txBody>
      </p:sp>
      <p:sp>
        <p:nvSpPr>
          <p:cNvPr id="131" name="Text 115"/>
          <p:cNvSpPr/>
          <p:nvPr/>
        </p:nvSpPr>
        <p:spPr>
          <a:xfrm>
            <a:off x="3831336" y="46268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·  Response  ·  User</a:t>
            </a:r>
            <a:endParaRPr lang="en-US" sz="700"/>
          </a:p>
        </p:txBody>
      </p:sp>
      <p:sp>
        <p:nvSpPr>
          <p:cNvPr id="132" name="Shape 116"/>
          <p:cNvSpPr/>
          <p:nvPr/>
        </p:nvSpPr>
        <p:spPr>
          <a:xfrm>
            <a:off x="6272784" y="4315968"/>
            <a:ext cx="2240280" cy="56692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" name="Text 117"/>
          <p:cNvSpPr/>
          <p:nvPr/>
        </p:nvSpPr>
        <p:spPr>
          <a:xfrm>
            <a:off x="6364224" y="43708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50"/>
          </a:p>
        </p:txBody>
      </p:sp>
      <p:sp>
        <p:nvSpPr>
          <p:cNvPr id="134" name="Text 118"/>
          <p:cNvSpPr/>
          <p:nvPr/>
        </p:nvSpPr>
        <p:spPr>
          <a:xfrm>
            <a:off x="6364224" y="46268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Accuracy %</a:t>
            </a:r>
            <a:endParaRPr lang="en-US" sz="700"/>
          </a:p>
        </p:txBody>
      </p:sp>
      <p:sp>
        <p:nvSpPr>
          <p:cNvPr id="135" name="Text 119"/>
          <p:cNvSpPr/>
          <p:nvPr/>
        </p:nvSpPr>
        <p:spPr>
          <a:xfrm>
            <a:off x="201168" y="4974336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·  Akshay Choudhari  &amp;  Tejas Singh</a:t>
            </a:r>
            <a:endParaRPr lang="en-US" sz="650"/>
          </a:p>
        </p:txBody>
      </p:sp>
    </p:spTree>
    <p:extLst>
      <p:ext uri="{BB962C8B-B14F-4D97-AF65-F5344CB8AC3E}">
        <p14:creationId xmlns:p14="http://schemas.microsoft.com/office/powerpoint/2010/main" val="364147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5120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Ask complex regulatory questions in plain English. The RAG system retrieves relevant policy documents and generates accurate, contextual responses with full source attribution.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60120"/>
            <a:ext cx="4206240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1498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</a:t>
            </a:r>
            <a:endParaRPr lang="en-US" sz="1200"/>
          </a:p>
        </p:txBody>
      </p:sp>
      <p:sp>
        <p:nvSpPr>
          <p:cNvPr id="14" name="Text 10"/>
          <p:cNvSpPr/>
          <p:nvPr/>
        </p:nvSpPr>
        <p:spPr>
          <a:xfrm>
            <a:off x="4892040" y="155448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response includes precise citations linking back to original policy documents, section numbers, and publication dates—ensuring full auditability.</a:t>
            </a:r>
            <a:endParaRPr lang="en-US" sz="1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0040" y="296244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53512"/>
            <a:ext cx="4206240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083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044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Safety</a:t>
            </a:r>
            <a:endParaRPr lang="en-US" sz="1200"/>
          </a:p>
        </p:txBody>
      </p:sp>
      <p:sp>
        <p:nvSpPr>
          <p:cNvPr id="19" name="Text 14"/>
          <p:cNvSpPr/>
          <p:nvPr/>
        </p:nvSpPr>
        <p:spPr>
          <a:xfrm>
            <a:off x="457200" y="354787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Zero-hallucination design through robust retrieval verification and confidence scoring. Every response grounded in source documents to prevent misleading interpretations.</a:t>
            </a:r>
            <a:endParaRPr lang="en-US" sz="100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606040" cy="960120"/>
          </a:xfrm>
          <a:prstGeom prst="rect">
            <a:avLst/>
          </a:prstGeom>
          <a:solidFill>
            <a:srgbClr val="1E4D8C">
              <a:alpha val="6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Metrics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scoring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06040" cy="960120"/>
          </a:xfrm>
          <a:prstGeom prst="rect">
            <a:avLst/>
          </a:prstGeom>
          <a:solidFill>
            <a:srgbClr val="1E4D8C">
              <a:alpha val="6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05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Scoring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324612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1261872"/>
          </a:xfrm>
          <a:prstGeom prst="rect">
            <a:avLst/>
          </a:prstGeom>
          <a:solidFill>
            <a:srgbClr val="1E4D8C">
              <a:alpha val="45000"/>
            </a:srgbClr>
          </a:solidFill>
          <a:ln w="12700">
            <a:solidFill>
              <a:srgbClr val="2D7DD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48840"/>
            <a:ext cx="457200" cy="126187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46888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22402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Relevance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1005840" y="2606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responses are evaluated using semantic similarity scores, ROUGE metrics, and human expert assessment. Factual accuracy is measured against source documents and responses are assessed for proper compliance query coverage.</a:t>
            </a:r>
            <a:endParaRPr lang="en-US" sz="1050"/>
          </a:p>
        </p:txBody>
      </p:sp>
      <p:sp>
        <p:nvSpPr>
          <p:cNvPr id="19" name="Shape 16"/>
          <p:cNvSpPr/>
          <p:nvPr/>
        </p:nvSpPr>
        <p:spPr>
          <a:xfrm>
            <a:off x="411480" y="3566160"/>
            <a:ext cx="8321040" cy="1261872"/>
          </a:xfrm>
          <a:prstGeom prst="rect">
            <a:avLst/>
          </a:prstGeom>
          <a:solidFill>
            <a:srgbClr val="1E4D8C">
              <a:alpha val="45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566160"/>
            <a:ext cx="457200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88620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05840" y="36576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BERT-Based Semantic Evaluation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1005840" y="4023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measures semantic similarity between generated responses and ground truth. Unlike exact word matching, BERT-based evaluation captures contextual meaning—enabling accurate assessment of how well the model understands compliance queries.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77240" cy="11430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01</a:t>
            </a:r>
            <a:endParaRPr lang="en-US" sz="22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075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19072" y="10515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0A1628"/>
                </a:solidFill>
                <a:ea typeface="Calibri"/>
                <a:cs typeface="Calibri"/>
              </a:rPr>
              <a:t>OCR Integration for Embeddings</a:t>
            </a:r>
          </a:p>
        </p:txBody>
      </p:sp>
      <p:sp>
        <p:nvSpPr>
          <p:cNvPr id="10" name="Text 7"/>
          <p:cNvSpPr/>
          <p:nvPr/>
        </p:nvSpPr>
        <p:spPr>
          <a:xfrm>
            <a:off x="1719072" y="131016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4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Tesseract OCR was the </a:t>
            </a:r>
            <a:r>
              <a:rPr lang="en-US" sz="1400" dirty="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preffered</a:t>
            </a:r>
            <a:r>
              <a:rPr lang="en-US" sz="14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option but could not be </a:t>
            </a:r>
            <a:r>
              <a:rPr lang="en-US" sz="1400" dirty="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utilised</a:t>
            </a:r>
            <a:r>
              <a:rPr lang="en-US" sz="14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 due to Installation issues. So we used EasyOCR which can be used locally and in an offline way once installed.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228600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286000"/>
            <a:ext cx="77724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606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02</a:t>
            </a:r>
            <a:endParaRPr lang="en-US" sz="22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63347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19072" y="2377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Citation Redundancy and issues</a:t>
            </a:r>
            <a:endParaRPr lang="en-US" sz="1300" b="1">
              <a:solidFill>
                <a:srgbClr val="0A1628"/>
              </a:solidFill>
              <a:ea typeface="Calibri"/>
              <a:cs typeface="Calibri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719072" y="26360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Citations were being redundant at the early stages of development and the accuracy of the citations was also low</a:t>
            </a:r>
          </a:p>
        </p:txBody>
      </p:sp>
      <p:sp>
        <p:nvSpPr>
          <p:cNvPr id="17" name="Shape 13"/>
          <p:cNvSpPr/>
          <p:nvPr/>
        </p:nvSpPr>
        <p:spPr>
          <a:xfrm>
            <a:off x="320040" y="361188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611880"/>
            <a:ext cx="77724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3931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03</a:t>
            </a:r>
            <a:endParaRPr lang="en-US" sz="22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9593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19072" y="37033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0A1628"/>
                </a:solidFill>
                <a:ea typeface="Calibri"/>
                <a:cs typeface="Calibri"/>
              </a:rPr>
              <a:t>High Latency because of Phi-2</a:t>
            </a:r>
          </a:p>
        </p:txBody>
      </p:sp>
      <p:sp>
        <p:nvSpPr>
          <p:cNvPr id="22" name="Text 17"/>
          <p:cNvSpPr/>
          <p:nvPr/>
        </p:nvSpPr>
        <p:spPr>
          <a:xfrm>
            <a:off x="1719072" y="3890487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334155"/>
                </a:solidFill>
                <a:ea typeface="Calibri"/>
                <a:cs typeface="Calibri"/>
              </a:rPr>
              <a:t>Phi-2 takes a huge amount of time to generate responses as it is a SLM</a:t>
            </a:r>
            <a:r>
              <a:rPr lang="en-US" sz="1050" dirty="0">
                <a:solidFill>
                  <a:srgbClr val="334155"/>
                </a:solidFill>
                <a:ea typeface="Calibri"/>
                <a:cs typeface="Calibri"/>
              </a:rPr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633472" cy="3749040"/>
          </a:xfrm>
          <a:prstGeom prst="rect">
            <a:avLst/>
          </a:prstGeom>
          <a:solidFill>
            <a:srgbClr val="1E4D8C">
              <a:alpha val="50000"/>
            </a:srgbClr>
          </a:solidFill>
          <a:ln w="12700">
            <a:solidFill>
              <a:srgbClr val="2D7DD2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2633472" cy="685800"/>
          </a:xfrm>
          <a:prstGeom prst="rect">
            <a:avLst/>
          </a:prstGeom>
          <a:solidFill>
            <a:srgbClr val="2D7DD2">
              <a:alpha val="80000"/>
            </a:srgbClr>
          </a:solidFill>
          <a:ln w="12700">
            <a:solidFill>
              <a:srgbClr val="2D7DD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06984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1051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Document Support</a:t>
            </a:r>
            <a:endParaRPr lang="en-US" sz="115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23591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RAG capabilities to process images, charts, and scanned documents using vision models for comprehensive policy extraction from all document formats.</a:t>
            </a:r>
            <a:endParaRPr lang="en-US" sz="1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2633472" cy="3749040"/>
          </a:xfrm>
          <a:prstGeom prst="rect">
            <a:avLst/>
          </a:prstGeom>
          <a:solidFill>
            <a:srgbClr val="1E4D8C">
              <a:alpha val="50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05840"/>
            <a:ext cx="2633472" cy="68580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1069848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181051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Regulatory Updates</a:t>
            </a:r>
            <a:endParaRPr lang="en-US" sz="1150"/>
          </a:p>
        </p:txBody>
      </p:sp>
      <p:sp>
        <p:nvSpPr>
          <p:cNvPr id="14" name="Text 10"/>
          <p:cNvSpPr/>
          <p:nvPr/>
        </p:nvSpPr>
        <p:spPr>
          <a:xfrm>
            <a:off x="3383280" y="2377440"/>
            <a:ext cx="23591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C8D6E5"/>
                </a:solidFill>
                <a:latin typeface="Calibri"/>
                <a:ea typeface="Calibri"/>
                <a:cs typeface="Calibri"/>
              </a:rPr>
              <a:t>Implement automated ingestion pipelines that monitor regulatory feeds and continuously update the vector database as new compliance requirements are published.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080760" y="1005840"/>
            <a:ext cx="2633472" cy="3749040"/>
          </a:xfrm>
          <a:prstGeom prst="rect">
            <a:avLst/>
          </a:prstGeom>
          <a:solidFill>
            <a:srgbClr val="1E4D8C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0760" y="1005840"/>
            <a:ext cx="2633472" cy="68580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069848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1810512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Integration</a:t>
            </a:r>
            <a:endParaRPr lang="en-US" sz="1150"/>
          </a:p>
        </p:txBody>
      </p:sp>
      <p:sp>
        <p:nvSpPr>
          <p:cNvPr id="19" name="Text 14"/>
          <p:cNvSpPr/>
          <p:nvPr/>
        </p:nvSpPr>
        <p:spPr>
          <a:xfrm>
            <a:off x="6217920" y="2377440"/>
            <a:ext cx="23591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>
                <a:solidFill>
                  <a:srgbClr val="C8D6E5"/>
                </a:solidFill>
                <a:latin typeface="Calibri"/>
                <a:ea typeface="Calibri"/>
                <a:cs typeface="Calibri"/>
              </a:rPr>
              <a:t>Build comprehensive logging infrastructure to track all policy queries, responses, and user interactions for complete compliance reporting and system accountability.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OVERVIEW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02920" cy="502920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96012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compliance question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chat interface in plain English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502920" cy="502920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retrieves documents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9601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policy chunks fetched via FAISS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0040" y="3182112"/>
            <a:ext cx="502920" cy="502920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96012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generates cited response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9601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Phi-2 synthesizes context-aware answer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20040" y="4187952"/>
            <a:ext cx="502920" cy="502920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960120" y="4142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displays audit trail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96012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Source docs, sections, and confidence scores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37760" y="960120"/>
            <a:ext cx="388620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960120"/>
            <a:ext cx="3886200" cy="5029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960120"/>
            <a:ext cx="38862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● ● ●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937760" y="960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Compliance Copilot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5120640" y="159127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2D7DD2">
              <a:alpha val="7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600200"/>
            <a:ext cx="34290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KYC requirements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high-risk customers?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858000" y="548640"/>
            <a:ext cx="502920" cy="502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046720" y="1097280"/>
            <a:ext cx="594360" cy="5943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6675120" y="2103120"/>
            <a:ext cx="502920" cy="50292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8229600" y="2743200"/>
            <a:ext cx="548640" cy="54864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6949440" y="3566160"/>
            <a:ext cx="502920" cy="50292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7772400" y="4206240"/>
            <a:ext cx="548640" cy="5486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411480" y="11887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/>
          </a:p>
        </p:txBody>
      </p:sp>
      <p:sp>
        <p:nvSpPr>
          <p:cNvPr id="12" name="Shape 4"/>
          <p:cNvSpPr/>
          <p:nvPr/>
        </p:nvSpPr>
        <p:spPr>
          <a:xfrm>
            <a:off x="411480" y="2359152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411480" y="2560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the technical implementation.</a:t>
            </a:r>
            <a:endParaRPr lang="en-US" sz="1400"/>
          </a:p>
        </p:txBody>
      </p:sp>
      <p:sp>
        <p:nvSpPr>
          <p:cNvPr id="14" name="Text 6"/>
          <p:cNvSpPr/>
          <p:nvPr/>
        </p:nvSpPr>
        <p:spPr>
          <a:xfrm>
            <a:off x="411480" y="32461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endParaRPr lang="en-US" sz="1600"/>
          </a:p>
        </p:txBody>
      </p:sp>
      <p:sp>
        <p:nvSpPr>
          <p:cNvPr id="15" name="Text 7"/>
          <p:cNvSpPr/>
          <p:nvPr/>
        </p:nvSpPr>
        <p:spPr>
          <a:xfrm>
            <a:off x="411480" y="363931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Choudhari  |  Tejas Singh</a:t>
            </a:r>
            <a:endParaRPr lang="en-US" sz="1300"/>
          </a:p>
        </p:txBody>
      </p:sp>
      <p:sp>
        <p:nvSpPr>
          <p:cNvPr id="16" name="Shape 8"/>
          <p:cNvSpPr/>
          <p:nvPr/>
        </p:nvSpPr>
        <p:spPr>
          <a:xfrm>
            <a:off x="411480" y="4343400"/>
            <a:ext cx="22860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41148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GenAI Banking Copilot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Banking Policy &amp; Compliance Copilot</dc:title>
  <dc:subject>PptxGenJS Presentation</dc:subject>
  <dc:creator>PptxGenJS</dc:creator>
  <cp:revision>68</cp:revision>
  <dcterms:created xsi:type="dcterms:W3CDTF">2026-04-01T08:06:01Z</dcterms:created>
  <dcterms:modified xsi:type="dcterms:W3CDTF">2026-04-02T04:24:22Z</dcterms:modified>
</cp:coreProperties>
</file>